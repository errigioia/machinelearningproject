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H9GjDkOvrOTCitvCB/3nPX124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54DD0E-1F19-4573-814A-A714A2B769E3}">
  <a:tblStyle styleId="{E654DD0E-1F19-4573-814A-A714A2B769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4099cefd29a_0_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g4099cefd29a_0_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g4099cefd29a_0_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099cefd29a_0_1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g4099cefd29a_0_1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4099cefd29a_0_1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4099cefd29a_0_19"/>
          <p:cNvSpPr/>
          <p:nvPr/>
        </p:nvSpPr>
        <p:spPr>
          <a:xfrm>
            <a:off x="3954000" y="523800"/>
            <a:ext cx="1236000" cy="11907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4300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g4099cefd29a_0_19"/>
          <p:cNvSpPr/>
          <p:nvPr/>
        </p:nvSpPr>
        <p:spPr>
          <a:xfrm>
            <a:off x="762000" y="1713163"/>
            <a:ext cx="7620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Waste Type Identification</a:t>
            </a:r>
            <a:endParaRPr b="1" sz="40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4099cefd29a_0_19"/>
          <p:cNvSpPr/>
          <p:nvPr/>
        </p:nvSpPr>
        <p:spPr>
          <a:xfrm>
            <a:off x="762000" y="2619400"/>
            <a:ext cx="7620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Team 2026_MLinf_gr41</a:t>
            </a:r>
            <a:endParaRPr b="1" sz="150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Errico Gioia · Raffaele Cutolo</a:t>
            </a:r>
            <a:endParaRPr b="0" sz="15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g4099cefd29a_0_19"/>
          <p:cNvSpPr/>
          <p:nvPr/>
        </p:nvSpPr>
        <p:spPr>
          <a:xfrm>
            <a:off x="1333500" y="3571875"/>
            <a:ext cx="6477000" cy="514500"/>
          </a:xfrm>
          <a:prstGeom prst="roundRect">
            <a:avLst>
              <a:gd fmla="val 50000" name="adj"/>
            </a:avLst>
          </a:prstGeom>
          <a:solidFill>
            <a:srgbClr val="EBF0F8"/>
          </a:solidFill>
          <a:ln cap="flat" cmpd="sng" w="9525">
            <a:solidFill>
              <a:srgbClr val="D0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g4099cefd29a_0_19"/>
          <p:cNvSpPr/>
          <p:nvPr/>
        </p:nvSpPr>
        <p:spPr>
          <a:xfrm>
            <a:off x="1428750" y="3571875"/>
            <a:ext cx="62865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>
                <a:solidFill>
                  <a:srgbClr val="2E5B9A"/>
                </a:solidFill>
                <a:latin typeface="Calibri"/>
                <a:ea typeface="Calibri"/>
                <a:cs typeface="Calibri"/>
                <a:sym typeface="Calibri"/>
              </a:rPr>
              <a:t>FINAL SYSTEM:	</a:t>
            </a:r>
            <a:r>
              <a:rPr b="1" lang="en-US" sz="1150">
                <a:solidFill>
                  <a:srgbClr val="2E5B9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15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RegNetY-1.6GF + calibrated acquisition augmentation (acq_mild) + flip TTA</a:t>
            </a:r>
            <a:endParaRPr i="1" sz="115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4099cefd29a_0_19"/>
          <p:cNvSpPr/>
          <p:nvPr/>
        </p:nvSpPr>
        <p:spPr>
          <a:xfrm>
            <a:off x="8503920" y="4759452"/>
            <a:ext cx="3657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solidFill>
                <a:srgbClr val="9AA5B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g4099cefd29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576" y="669350"/>
            <a:ext cx="868849" cy="89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Setup: Stratified Split, Preprocessing, Training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457200" y="1496915"/>
            <a:ext cx="2560200" cy="2555100"/>
          </a:xfrm>
          <a:prstGeom prst="roundRect">
            <a:avLst>
              <a:gd fmla="val 2143" name="adj"/>
            </a:avLst>
          </a:prstGeom>
          <a:solidFill>
            <a:srgbClr val="F2F5FA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40080" y="1652370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40080" y="2109570"/>
            <a:ext cx="22128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 stratified 80/20 split preserving every macro-class and sub-class ratio (Clothing = 47.1%, Undifferentiated = 4.5%)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Saved as </a:t>
            </a:r>
            <a:r>
              <a:rPr lang="en-US" sz="115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split.csv</a:t>
            </a: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reused unchanged in all experiments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Verified with stratified 5-fold CV: 0.960 ± 0.005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3291850" y="1496915"/>
            <a:ext cx="2560200" cy="2555100"/>
          </a:xfrm>
          <a:prstGeom prst="roundRect">
            <a:avLst>
              <a:gd fmla="val 2143" name="adj"/>
            </a:avLst>
          </a:prstGeom>
          <a:solidFill>
            <a:srgbClr val="F2F5FA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474720" y="1652370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474720" y="2109570"/>
            <a:ext cx="22128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Resize to 224×224 without cropping — aspect ratios are highly variable, cropping would cut objects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ImageNet normalization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126475" y="1496915"/>
            <a:ext cx="2560200" cy="2555100"/>
          </a:xfrm>
          <a:prstGeom prst="roundRect">
            <a:avLst>
              <a:gd fmla="val 2143" name="adj"/>
            </a:avLst>
          </a:prstGeom>
          <a:solidFill>
            <a:srgbClr val="F2F5FA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6309360" y="1652370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309360" y="2109570"/>
            <a:ext cx="22128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Fine-tuning from ImageNet weights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SGD momentum 0.9, lr 0.01, weight decay 1e-4, cosine annealing, 15 epochs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Plain Cross-Entropy loss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Char char="•"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Best-epoch checkpoint, seed 1234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The Real Problem: A Generalization Gap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914400" y="1253605"/>
            <a:ext cx="2651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0.967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914400" y="228687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Balanced Accuracy — clean validation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3886200" y="1299325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577840" y="1253605"/>
            <a:ext cx="26517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B2B"/>
              </a:buClr>
              <a:buSzPts val="6000"/>
              <a:buFont typeface="Calibri"/>
              <a:buNone/>
            </a:pPr>
            <a:r>
              <a:rPr b="1" lang="en-US" sz="6000">
                <a:solidFill>
                  <a:srgbClr val="9C2B2B"/>
                </a:solidFill>
                <a:latin typeface="Calibri"/>
                <a:ea typeface="Calibri"/>
                <a:cs typeface="Calibri"/>
                <a:sym typeface="Calibri"/>
              </a:rPr>
              <a:t>0.455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577840" y="2286877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Same model on RealWaste (out-of-distribution)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02920" y="3101571"/>
            <a:ext cx="81381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ResNet18 baseline: 0.967 on validation — but validation shares cameras and post-processing with training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OOD probe on RealWaste (public dataset, used only for evaluation, never for training): accuracy collapses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Failure pattern: Clothing (47% of training) acts as an attractor — uncertain samples fall into the majority class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Consequence: the clean score carries almost no signal; every decision from here on targets robustness under shift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Measuring Robustness Without Fooling Ourselves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2925" y="1198616"/>
            <a:ext cx="8138100" cy="20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Built a hard-validation: same images and labels, corrupted along 4 families aligned one-to-one with the assignment — geometric (framing/scale), acquisition (blur, JPEG, jitter, noise), background removal, resolution — at two severities; no model retrained, training set never touched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Hidden bias discovered: an aggregate stress score crowned geo_rrc (RandomResizedCrop) — but only because the probe was dominated by the very perturbation it trains on: a quasi-circular evaluation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Fix: evaluate the 4 families separately with a pre-registered decision rule (primary axis = acquisition; never last in any family; clean-val within 0.005 of best)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decomposition overturned the choice: light augmentation wins (acquisition 0.920, best 4-family average 0.924)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31270" y="3649746"/>
            <a:ext cx="3383400" cy="777300"/>
          </a:xfrm>
          <a:prstGeom prst="roundRect">
            <a:avLst>
              <a:gd fmla="val 7059" name="adj"/>
            </a:avLst>
          </a:prstGeom>
          <a:solidFill>
            <a:srgbClr val="FBF1F1"/>
          </a:solidFill>
          <a:ln cap="flat" cmpd="sng" w="9525">
            <a:solidFill>
              <a:srgbClr val="E4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31270" y="3649746"/>
            <a:ext cx="3383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2B2B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9C2B2B"/>
                </a:solidFill>
                <a:latin typeface="Calibri"/>
                <a:ea typeface="Calibri"/>
                <a:cs typeface="Calibri"/>
                <a:sym typeface="Calibri"/>
              </a:rPr>
              <a:t>Aggregate probe  →  biased winner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060270" y="3695466"/>
            <a:ext cx="82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928950" y="3649746"/>
            <a:ext cx="3383400" cy="777300"/>
          </a:xfrm>
          <a:prstGeom prst="roundRect">
            <a:avLst>
              <a:gd fmla="val 7059" name="adj"/>
            </a:avLst>
          </a:prstGeom>
          <a:solidFill>
            <a:srgbClr val="F2F5FA"/>
          </a:solidFill>
          <a:ln cap="flat" cmpd="sng" w="9525">
            <a:solidFill>
              <a:srgbClr val="D8E0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928950" y="3649746"/>
            <a:ext cx="3383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Decomposed 4-family probe  →  fair choice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503920" y="47594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457200" y="25603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One Lever Worked — Everything Else Redistributed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1215299"/>
            <a:ext cx="4160400" cy="3343200"/>
          </a:xfrm>
          <a:prstGeom prst="roundRect">
            <a:avLst>
              <a:gd fmla="val 1481" name="adj"/>
            </a:avLst>
          </a:prstGeom>
          <a:solidFill>
            <a:srgbClr val="FBF1F1"/>
          </a:solidFill>
          <a:ln cap="flat" cmpd="sng" w="9525">
            <a:solidFill>
              <a:srgbClr val="E4CF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58368" y="1352451"/>
            <a:ext cx="3794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2B2B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9C2B2B"/>
                </a:solidFill>
                <a:latin typeface="Calibri"/>
                <a:ea typeface="Calibri"/>
                <a:cs typeface="Calibri"/>
                <a:sym typeface="Calibri"/>
              </a:rPr>
              <a:t>Failed (net zero or negative on OOD)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58375" y="1763926"/>
            <a:ext cx="3794700" cy="23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Strong photometric augmentation (RealWaste −0.023)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Class-weighted loss; oversampling (organic TPR 0.388 → 0.115)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RandomResizedCrop; CutMix (RealWaste 0.331); RandomErasing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Fine-tuning depth: partial freezing</a:t>
            </a:r>
            <a:endParaRPr sz="1200">
              <a:solidFill>
                <a:srgbClr val="1A1A1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Confidence-based reject option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Pattern: interventions on the decision boundary or the sampling prior trade TPR between classes — the lever is what the features encode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46325" y="1215299"/>
            <a:ext cx="3840600" cy="3343200"/>
          </a:xfrm>
          <a:prstGeom prst="roundRect">
            <a:avLst>
              <a:gd fmla="val 1481" name="adj"/>
            </a:avLst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074920" y="1352451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Worked: acq_mild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074925" y="1763927"/>
            <a:ext cx="3401700" cy="17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 + calibrated mild acquisition block: light blur, mild JPEG recompression, small jitter, light noise — the untested middle of the intensity curve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Assignment primary axis 0.920 → 0.956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RealWaste 0.455 → 0.492 (≈ 6× the noise)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Clothing attractor weakens, minority classes gain — a net gain, dose-dependent (inverted-U)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Backbone Selection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02920" y="1123048"/>
            <a:ext cx="81381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 ImageNet backbones, identical frozen recipe, single varying factor (MobileNetV3 and EffV2-M excluded with motivation)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 GB training budget met via gradient accumulation: effective batch 64 for everyone, only the physical micro-batch adapts — fair optimization for all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Pre-registered rule: highest hard-val wins; gap ≤ 0.01 = tie → the more efficient model wins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•"/>
            </a:pPr>
            <a:r>
              <a:rPr lang="en-US" sz="12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EffV2-S 0.971 vs RegNetY 0.971 → RegNetY wins on efficiency (356 vs 280 img/s, 0.30 vs 0.47 GB, half the parameters); capacity gain grows under shift (RegNetY vs ResNet18: +0.014 clean, +0.029 hard)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6"/>
          <p:cNvGraphicFramePr/>
          <p:nvPr/>
        </p:nvGraphicFramePr>
        <p:xfrm>
          <a:off x="1280160" y="297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{E654DD0E-1F19-4573-814A-A714A2B769E3}</a:tableStyleId>
              </a:tblPr>
              <a:tblGrid>
                <a:gridCol w="2468875"/>
                <a:gridCol w="1371600"/>
                <a:gridCol w="1554475"/>
                <a:gridCol w="118872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Backbone (acq_mild)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Hard-val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mem (GB)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fps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3864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EfficientNetV2-S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r>
                        <a:rPr lang="en-US" sz="12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RegNetY-1.6GF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r>
                        <a:rPr b="1" lang="en-US" sz="125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5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r>
                        <a:rPr b="1" lang="en-US" sz="1250" u="none" cap="none" strike="noStrike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E5F2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ConvNeXt-Tiny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r>
                        <a:rPr lang="en-US" sz="12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ResNet18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</a:t>
                      </a:r>
                      <a:r>
                        <a:rPr lang="en-US" sz="12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</a:t>
                      </a: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1186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36575" marL="36575" anchor="ctr">
                    <a:lnL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3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2" name="Google Shape;82;p6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Final System and Numbers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457200" y="1214488"/>
            <a:ext cx="2011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0.971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457200" y="1946008"/>
            <a:ext cx="201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Hard-val Balanced Acc. (clean 0.980)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2560320" y="1214488"/>
            <a:ext cx="2011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0.582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2560320" y="1946008"/>
            <a:ext cx="201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RealWaste Balanced Acc.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4663440" y="1214488"/>
            <a:ext cx="2011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0.30 GB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4663440" y="1946008"/>
            <a:ext cx="201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Test memory (budget: 4 GB)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766560" y="1214488"/>
            <a:ext cx="2011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≈178 img/s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6766560" y="1946008"/>
            <a:ext cx="2011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Throughput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02920" y="2794033"/>
            <a:ext cx="81381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RegNetY-1.6GF fine-tuned under acq_mild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horizontal-flip TTA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(zero-risk safety margin)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Memory is not the binding constraint — robustness and throughput 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predict()</a:t>
            </a: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: deterministic Resize(224) + ImageNet normalization, averages input and mirrored input; fully compliant with the required specification (variable batch size, uint8 in/out)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lang="en-US" sz="13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Known residual weak spot: Plastic under the hardest acquisition conditions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8503920" y="47594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4099cefd29a_0_137"/>
          <p:cNvSpPr/>
          <p:nvPr/>
        </p:nvSpPr>
        <p:spPr>
          <a:xfrm>
            <a:off x="457200" y="256032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2700"/>
              <a:buFont typeface="Calibri"/>
              <a:buNone/>
            </a:pPr>
            <a:r>
              <a:rPr b="1" lang="en-US" sz="27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g4099cefd29a_0_137"/>
          <p:cNvGrpSpPr/>
          <p:nvPr/>
        </p:nvGrpSpPr>
        <p:grpSpPr>
          <a:xfrm>
            <a:off x="571500" y="1197429"/>
            <a:ext cx="7848600" cy="3219600"/>
            <a:chOff x="571500" y="1095375"/>
            <a:chExt cx="7848600" cy="3219600"/>
          </a:xfrm>
        </p:grpSpPr>
        <p:grpSp>
          <p:nvGrpSpPr>
            <p:cNvPr id="106" name="Google Shape;106;g4099cefd29a_0_137"/>
            <p:cNvGrpSpPr/>
            <p:nvPr/>
          </p:nvGrpSpPr>
          <p:grpSpPr>
            <a:xfrm>
              <a:off x="571500" y="1095375"/>
              <a:ext cx="7848600" cy="552600"/>
              <a:chOff x="571500" y="1095375"/>
              <a:chExt cx="7848600" cy="552600"/>
            </a:xfrm>
          </p:grpSpPr>
          <p:sp>
            <p:nvSpPr>
              <p:cNvPr id="107" name="Google Shape;107;g4099cefd29a_0_137"/>
              <p:cNvSpPr/>
              <p:nvPr/>
            </p:nvSpPr>
            <p:spPr>
              <a:xfrm>
                <a:off x="571500" y="1143000"/>
                <a:ext cx="4572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g4099cefd29a_0_137"/>
              <p:cNvSpPr txBox="1"/>
              <p:nvPr/>
            </p:nvSpPr>
            <p:spPr>
              <a:xfrm>
                <a:off x="571500" y="11430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b="1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g4099cefd29a_0_137"/>
              <p:cNvSpPr txBox="1"/>
              <p:nvPr/>
            </p:nvSpPr>
            <p:spPr>
              <a:xfrm>
                <a:off x="1181100" y="1095375"/>
                <a:ext cx="7239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1F386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Clean validation was saturated and uninformative:</a:t>
                </a:r>
                <a:r>
                  <a:rPr lang="en-US" sz="125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the competition is decided on accuracy under distribution shift.</a:t>
                </a:r>
                <a:endParaRPr sz="12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" name="Google Shape;110;g4099cefd29a_0_137"/>
            <p:cNvGrpSpPr/>
            <p:nvPr/>
          </p:nvGrpSpPr>
          <p:grpSpPr>
            <a:xfrm>
              <a:off x="571500" y="1762125"/>
              <a:ext cx="7848600" cy="552600"/>
              <a:chOff x="571500" y="1762125"/>
              <a:chExt cx="7848600" cy="552600"/>
            </a:xfrm>
          </p:grpSpPr>
          <p:sp>
            <p:nvSpPr>
              <p:cNvPr id="111" name="Google Shape;111;g4099cefd29a_0_137"/>
              <p:cNvSpPr/>
              <p:nvPr/>
            </p:nvSpPr>
            <p:spPr>
              <a:xfrm>
                <a:off x="571500" y="1809750"/>
                <a:ext cx="4572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g4099cefd29a_0_137"/>
              <p:cNvSpPr txBox="1"/>
              <p:nvPr/>
            </p:nvSpPr>
            <p:spPr>
              <a:xfrm>
                <a:off x="571500" y="18097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b="1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g4099cefd29a_0_137"/>
              <p:cNvSpPr txBox="1"/>
              <p:nvPr/>
            </p:nvSpPr>
            <p:spPr>
              <a:xfrm>
                <a:off x="1181100" y="1762125"/>
                <a:ext cx="7239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1F386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Robustness test reliability:</a:t>
                </a:r>
                <a:r>
                  <a:rPr lang="en-US" sz="125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A robustness test is reliable only if the perturbations used to evaluate are independent of those used to train — our own probe fooled us once.</a:t>
                </a:r>
                <a:endParaRPr sz="12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g4099cefd29a_0_137"/>
            <p:cNvGrpSpPr/>
            <p:nvPr/>
          </p:nvGrpSpPr>
          <p:grpSpPr>
            <a:xfrm>
              <a:off x="571500" y="2428875"/>
              <a:ext cx="7848600" cy="552600"/>
              <a:chOff x="571500" y="2428875"/>
              <a:chExt cx="7848600" cy="552600"/>
            </a:xfrm>
          </p:grpSpPr>
          <p:sp>
            <p:nvSpPr>
              <p:cNvPr id="115" name="Google Shape;115;g4099cefd29a_0_137"/>
              <p:cNvSpPr/>
              <p:nvPr/>
            </p:nvSpPr>
            <p:spPr>
              <a:xfrm>
                <a:off x="571500" y="2476500"/>
                <a:ext cx="4572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g4099cefd29a_0_137"/>
              <p:cNvSpPr txBox="1"/>
              <p:nvPr/>
            </p:nvSpPr>
            <p:spPr>
              <a:xfrm>
                <a:off x="571500" y="24765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b="1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g4099cefd29a_0_137"/>
              <p:cNvSpPr txBox="1"/>
              <p:nvPr/>
            </p:nvSpPr>
            <p:spPr>
              <a:xfrm>
                <a:off x="1181100" y="2428875"/>
                <a:ext cx="7239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1F386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Real OOD gains</a:t>
                </a:r>
                <a:r>
                  <a:rPr lang="en-US" sz="125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come from improving what features encode (calibrated acquisition augmentation); boundary/prior interventions only redistribute TPR.</a:t>
                </a:r>
                <a:endParaRPr sz="12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g4099cefd29a_0_137"/>
            <p:cNvGrpSpPr/>
            <p:nvPr/>
          </p:nvGrpSpPr>
          <p:grpSpPr>
            <a:xfrm>
              <a:off x="571500" y="3095625"/>
              <a:ext cx="7848600" cy="552600"/>
              <a:chOff x="571500" y="3095625"/>
              <a:chExt cx="7848600" cy="552600"/>
            </a:xfrm>
          </p:grpSpPr>
          <p:sp>
            <p:nvSpPr>
              <p:cNvPr id="119" name="Google Shape;119;g4099cefd29a_0_137"/>
              <p:cNvSpPr/>
              <p:nvPr/>
            </p:nvSpPr>
            <p:spPr>
              <a:xfrm>
                <a:off x="571500" y="3143250"/>
                <a:ext cx="4572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g4099cefd29a_0_137"/>
              <p:cNvSpPr txBox="1"/>
              <p:nvPr/>
            </p:nvSpPr>
            <p:spPr>
              <a:xfrm>
                <a:off x="571500" y="314325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endParaRPr b="1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g4099cefd29a_0_137"/>
              <p:cNvSpPr txBox="1"/>
              <p:nvPr/>
            </p:nvSpPr>
            <p:spPr>
              <a:xfrm>
                <a:off x="1181100" y="3095625"/>
                <a:ext cx="7239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1F386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Augmentation is dose-dependent:</a:t>
                </a:r>
                <a:r>
                  <a:rPr lang="en-US" sz="125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too little does nothing, too much destroys the signal, the calibrated middle helps.</a:t>
                </a:r>
                <a:endParaRPr sz="12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" name="Google Shape;122;g4099cefd29a_0_137"/>
            <p:cNvGrpSpPr/>
            <p:nvPr/>
          </p:nvGrpSpPr>
          <p:grpSpPr>
            <a:xfrm>
              <a:off x="571500" y="3762375"/>
              <a:ext cx="7848600" cy="552600"/>
              <a:chOff x="571500" y="3762375"/>
              <a:chExt cx="7848600" cy="552600"/>
            </a:xfrm>
          </p:grpSpPr>
          <p:sp>
            <p:nvSpPr>
              <p:cNvPr id="123" name="Google Shape;123;g4099cefd29a_0_137"/>
              <p:cNvSpPr/>
              <p:nvPr/>
            </p:nvSpPr>
            <p:spPr>
              <a:xfrm>
                <a:off x="571500" y="3810000"/>
                <a:ext cx="457200" cy="457200"/>
              </a:xfrm>
              <a:prstGeom prst="roundRect">
                <a:avLst>
                  <a:gd fmla="val 50000" name="adj"/>
                </a:avLst>
              </a:prstGeom>
              <a:solidFill>
                <a:srgbClr val="1F386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g4099cefd29a_0_137"/>
              <p:cNvSpPr txBox="1"/>
              <p:nvPr/>
            </p:nvSpPr>
            <p:spPr>
              <a:xfrm>
                <a:off x="571500" y="3810000"/>
                <a:ext cx="457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05</a:t>
                </a:r>
                <a:endParaRPr b="1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g4099cefd29a_0_137"/>
              <p:cNvSpPr txBox="1"/>
              <p:nvPr/>
            </p:nvSpPr>
            <p:spPr>
              <a:xfrm>
                <a:off x="1181100" y="3762375"/>
                <a:ext cx="7239000" cy="55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1F3864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Extra capacity</a:t>
                </a:r>
                <a:r>
                  <a:rPr lang="en-US" sz="1250">
                    <a:solidFill>
                      <a:srgbClr val="1A1A1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converts into robust accuracy, not just clean accuracy — and stacks with the recipe gain (RealWaste 0.582 vs 0.492).</a:t>
                </a:r>
                <a:endParaRPr sz="1250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6" name="Google Shape;126;g4099cefd29a_0_137"/>
          <p:cNvSpPr/>
          <p:nvPr/>
        </p:nvSpPr>
        <p:spPr>
          <a:xfrm>
            <a:off x="8503920" y="4759452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5B1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2026-07-03T09:03:52Z</dcterms:created>
  <dc:creator>2026_MLinf_gr41</dc:creator>
</cp:coreProperties>
</file>